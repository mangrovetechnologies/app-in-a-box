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6"/>
  </p:notesMasterIdLst>
  <p:sldIdLst>
    <p:sldId id="256" r:id="rId2"/>
    <p:sldId id="257" r:id="rId3"/>
    <p:sldId id="258" r:id="rId4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7" r:id="rId43"/>
    <p:sldId id="266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6"/>
    <p:sldId id="327" r:id="rId7"/>
    <p:sldId id="329" r:id="rId8"/>
    <p:sldId id="330" r:id="rId9"/>
    <p:sldId id="331" r:id="rId10"/>
    <p:sldId id="332" r:id="rId11"/>
    <p:sldId id="268" r:id="rId44"/>
    <p:sldId id="269" r:id="rId45"/>
    <p:sldId id="270" r:id="rId46"/>
    <p:sldId id="271" r:id="rId47"/>
    <p:sldId id="272" r:id="rId48"/>
    <p:sldId id="273" r:id="rId49"/>
    <p:sldId id="274" r:id="rId50"/>
    <p:sldId id="275" r:id="rId51"/>
    <p:sldId id="276" r:id="rId52"/>
    <p:sldId id="277" r:id="rId53"/>
    <p:sldId id="278" r:id="rId54"/>
    <p:sldId id="279" r:id="rId55"/>
    <p:sldId id="280" r:id="rId56"/>
    <p:sldId id="281" r:id="rId57"/>
    <p:sldId id="348" r:id="rId59"/>
    <p:sldId id="349" r:id="rId60"/>
    <p:sldId id="350" r:id="rId61"/>
    <p:sldId id="351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59" r:id="rId70"/>
    <p:sldId id="360" r:id="rId71"/>
    <p:sldId id="361" r:id="rId72"/>
    <p:sldId id="362" r:id="rId73"/>
    <p:sldId id="363" r:id="rId74"/>
    <p:sldId id="364" r:id="rId75"/>
    <p:sldId id="365" r:id="rId76"/>
    <p:sldId id="366" r:id="rId77"/>
    <p:sldId id="282" r:id="rId58"/>
    <p:sldId id="283" r:id="rId78"/>
    <p:sldId id="284" r:id="rId79"/>
    <p:sldId id="285" r:id="rId80"/>
    <p:sldId id="286" r:id="rId81"/>
    <p:sldId id="287" r:id="rId82"/>
    <p:sldId id="288" r:id="rId83"/>
    <p:sldId id="289" r:id="rId84"/>
    <p:sldId id="290" r:id="rId85"/>
    <p:sldId id="291" r:id="rId86"/>
    <p:sldId id="292" r:id="rId87"/>
    <p:sldId id="293" r:id="rId88"/>
    <p:sldId id="294" r:id="rId89"/>
    <p:sldId id="295" r:id="rId90"/>
    <p:sldId id="296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5" r:id="rId101"/>
    <p:sldId id="347" r:id="rId103"/>
    <p:sldId id="297" r:id="rId5"/>
    <p:sldId id="298" r:id="rId102"/>
    <p:sldId id="301" r:id="rId104"/>
    <p:sldId id="302" r:id="rId10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68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support.claude.com/en/articles/12512198-how-to-create-custom-skill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tform.claude.com/docs/en/agents-and-tools/agent-skills/best-practices" TargetMode="External"/><Relationship Id="rId5" Type="http://schemas.openxmlformats.org/officeDocument/2006/relationships/hyperlink" Target="https://platform.claude.com/docs/en/agents-and-tools/agent-skills/overview" TargetMode="External"/><Relationship Id="rId4" Type="http://schemas.openxmlformats.org/officeDocument/2006/relationships/hyperlink" Target="https://code.claude.com/docs/en/skill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platform.claude.com/docs/en/agent-sdk/hook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aude.com/blog/how-to-configure-hooks" TargetMode="External"/><Relationship Id="rId5" Type="http://schemas.openxmlformats.org/officeDocument/2006/relationships/hyperlink" Target="https://code.claude.com/docs/en/hooks-guide" TargetMode="External"/><Relationship Id="rId4" Type="http://schemas.openxmlformats.org/officeDocument/2006/relationships/hyperlink" Target="https://code.claude.com/docs/en/hooks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cs.claude.com/en/docs/mc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odelcontextprotocol.io/quickstart" TargetMode="External"/><Relationship Id="rId5" Type="http://schemas.openxmlformats.org/officeDocument/2006/relationships/hyperlink" Target="https://www.anthropic.com/news/model-context-protocol" TargetMode="External"/><Relationship Id="rId4" Type="http://schemas.openxmlformats.org/officeDocument/2006/relationships/hyperlink" Target="https://docs.anthropic.com/en/docs/claude-code/mcp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claude.com/blog/cowork-plugins-across-enterprise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aude.com/plugins" TargetMode="External"/><Relationship Id="rId5" Type="http://schemas.openxmlformats.org/officeDocument/2006/relationships/hyperlink" Target="https://claude.com/blog/claude-code-plugins" TargetMode="External"/><Relationship Id="rId4" Type="http://schemas.openxmlformats.org/officeDocument/2006/relationships/hyperlink" Target="https://code.claude.com/docs/en/discover-plugins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387096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 &amp; BYTES  ·  FRIDAY, APRIL 24, 2026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Your Own</a:t>
            </a:r>
            <a:endParaRPr lang="en-US" sz="6600" dirty="0"/>
          </a:p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 Bot.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 Code and the Mangrove API.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  ·  SPONSORED BY STAND WITH CRYPTO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TALKING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 Darrah.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109115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· Vanderbilt professor · Mangrove co-founder.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AI trading bots and teach other people how. This workshop is the first installment of Bots &amp; Bytes — a curriculum on driving Claude Code well, and using it to ship things that touch real systems (and sometimes real money) without blowing yourself up.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leave with.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running paper-trading bot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 strategy, backtested it, promoted to paper, watched it tick. Local on your laptop. Self-custody.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728" y="210312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53048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Fluency driving Claude Code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53048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plan mode, CLAUDE.md, tool calls, skills, hooks, MCP. The actual working vocabulary.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mental model for AI safety in finance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agent that ships your app can drain your wallet. What to gate. What never to automate.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8728" y="42976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to the full curriculum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53048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6–8: real wallets, live trading on Base, monitoring and extending the bot. Today is the trailer.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11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IN PRACTICE.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this bot — for every agent you'll build after today. The transferable mental model.</a:t>
            </a:r>
            <a:endParaRPr lang="en-US" sz="2200" dirty="0"/>
          </a:p>
        </p:txBody>
      </p:sp>
      <p:pic>
        <p:nvPicPr>
          <p:cNvPr id="6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elegant-magical-meitner/mnt/outputs/chapters-6-8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3586480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TOUCH REAL MONEY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0574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word on AI safety.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10911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leverage.</a:t>
            </a: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multiplies what you do right. </a:t>
            </a:r>
            <a:r>
              <a:rPr lang="en-US" sz="2200" b="1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multiplies what you do wrong.</a:t>
            </a: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coding: data loss, false success, leaked secrets.</a:t>
            </a:r>
            <a:endParaRPr lang="en-US" sz="2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finance: money gone. Not recoverable.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this point can move real funds. Ground rules first.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CH 6-8 INTRO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TRENCHES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 stories.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of things agentic AI gets wrong when you're not watching. Real scenarios — not theoretical.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89864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loss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overwrote the file I'd just saved."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without reading. Forgets what's on disk. Happens most when context is thin or plan mode was skipped.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8728" y="26974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78728" y="26974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53048" y="289864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53048" y="32004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False success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53048" y="370332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said the tests passed. They didn't."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53048" y="41148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results. Claimed completion it didn't achieve. The fix: read the tool calls, not the summary.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80060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0080" y="480060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4400" y="500176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530352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injection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14400" y="580644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followed instructions it read off the internet."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4400" y="62179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README, a GitHub issue, a web page — anything the agent reads can contain 'now do X.' Trust boundary breach.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78728" y="480060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78728" y="480060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53048" y="5001768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04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53048" y="530352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Runaway autonomy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553048" y="5806440"/>
            <a:ext cx="4724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kept going when it should have stopped."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53048" y="62179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permissions, no plan mode, no hooks. Burned tokens, made mess, sometimes destroyed state.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CH 6-8 INTRO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THING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agentic finance?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</a:t>
            </a: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execute financial actions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 rule-based bots. Not AI advisors. Agents that reason, decide, and act — with your money, your keys, and on-chain state. Usually built on top of LLM-driven reasoning + tool use.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29184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 bots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461772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about to build. Agent reads market data, evaluates strategies, executes swaps. Narrow mandate, explicit allocation, human-set strategy. The entry-level of the category.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99178" y="329184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9178" y="329184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73498" y="35661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3498" y="39776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 autopilots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73498" y="461772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Agent-managed yield strategies, auto-rebalancing portfolios, leverage managers. Multi-protocol, multi-asset, responding to signals continuously. Delegated authority, scoped actions.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8277" y="329184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8277" y="3291840"/>
            <a:ext cx="339333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32597" y="35661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32597" y="39776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treasuries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432597" y="461772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manages an org's operating capital — payroll, vendor payments, hedging, treasury allocation. Still theoretical at scale; first serious deployments happening now. The end of the runway.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3093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doing Level 01 today. Everything above it builds on these same primitives.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changes when finance gets agentic.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OPENS 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Democratization.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strategies — backtesting, risk models, multi-factor signals — become accessible to anyone who can prompt an agent.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react in milliseconds, 24/7, without emotion. Strategies that required a desk of traders can run on one laptop.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gets their own agent, tuned to their risk, their time horizon, their values. The 'one-size-fits-millions' fund model gets competition.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Composability.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talk to agents — settling trades, negotiating pricing, paying each other. The machine-readable economy.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AT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failure.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trained on similar data act similarly in crises. Flash crashes amplified. Herd behavior, but in silicon.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loses your money, who's responsible? The model? The operator? The strategy author? Law hasn't caught up.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attack surfaces.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injection. Data poisoning. Agent hijacking. Problems traditional security didn't have to think about.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arbitrage.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movers set norms before regulators arrive. That's opportunity — and it's also how things break at scale.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NEW ATTACK SURFACE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 when data is code.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27168" cy="33832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37160" cy="3383280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PARADIGM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Keep them out.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86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code execution, unauthorized access.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· XSS · RCE · credential theft · malware.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· auth · input validation · WAFs · EDR. Deterministic. Auditable. Decades of tooling.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2103120"/>
            <a:ext cx="5227168" cy="33832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24448" y="2103120"/>
            <a:ext cx="137160" cy="338328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98768" y="21945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PARADIGM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98768" y="260604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authorized agents from being manipulated.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98768" y="3474720"/>
            <a:ext cx="48614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agent, given legitimate access, is talked into doing the wrong thing.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(direct + indirect) · data poisoning · adversarial content · supply-chain compromise on model weights.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· permission prompts · least-privilege scopes · treat-inputs-as-hostile. Non-deterministic. Still being invented.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760720"/>
            <a:ext cx="10911535" cy="73152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80644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the new SQL injection.</a:t>
            </a: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data is your code. A README can pwn you.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THIS TO WORK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about to do this.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is agentic finance in miniature. You're going to create a wallet, fund it with real money, and hand the keys to an AI that will trade on your behalf.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 from two slides ago aren't abstractions — they're what keeps this exercise safe.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guardrail you'll see in the next section is a worked example of those rules: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2522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2522144" cy="914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→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the tool calls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0292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list_trades · list_evaluations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36544" y="3749040"/>
            <a:ext cx="2522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36544" y="3749040"/>
            <a:ext cx="252214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65144" y="39776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→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65144" y="425196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65144" y="475488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65144" y="50292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agent.db as audit trail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3008" y="3749040"/>
            <a:ext cx="2522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33008" y="3749040"/>
            <a:ext cx="2522144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61608" y="39776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→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61608" y="425196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Treat inputs as hostile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61608" y="475488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61608" y="50292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key-paste hook refuses secrets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29471" y="3749040"/>
            <a:ext cx="2522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029471" y="3749040"/>
            <a:ext cx="2522144" cy="914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258071" y="39776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→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258071" y="425196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your autonomy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258071" y="475488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258071" y="50292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gate + slippage cap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set up the wallet.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FINANCE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 TALK  ·  START HERE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now.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22144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522144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56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code.visualstudio.com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editor for today. Download + install if you don't have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6544" y="2468880"/>
            <a:ext cx="2522144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36544" y="2468880"/>
            <a:ext cx="2522144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9424" y="269748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9424" y="30632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Desktop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9424" y="3749040"/>
            <a:ext cx="2156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claude.com/download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9424" y="5394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Claude Code CLI — you'll likely already have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3008" y="2468880"/>
            <a:ext cx="2522144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2468880"/>
            <a:ext cx="2522144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5888" y="269748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5888" y="30632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 API key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5888" y="3749040"/>
            <a:ext cx="2156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mangrovedeveloper.ai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15888" y="5394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copy key. We'll paste it in step 4.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29471" y="2468880"/>
            <a:ext cx="2522144" cy="3657600"/>
          </a:xfrm>
          <a:prstGeom prst="rect">
            <a:avLst/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29471" y="2468880"/>
            <a:ext cx="2522144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12351" y="2697480"/>
            <a:ext cx="215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12351" y="3063240"/>
            <a:ext cx="2156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Clone + setup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12351" y="3749040"/>
            <a:ext cx="2156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.../app-in-a-box.git defi-agent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defi-agent &amp;&amp; ./scripts/setup.sh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12351" y="539496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Python 3.11+. Paste API key when prompted.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 Flag a neighbor — buddy system.  Stuck worse?  Flag Tim.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Claude?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family of AI models built by </a:t>
            </a:r>
            <a:r>
              <a:rPr lang="en-US" sz="1700" b="1" dirty="0">
                <a:solidFill>
                  <a:srgbClr val="42A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Like GPT from OpenAI or Gemini from Google — but with a different design posture: safety-first, aligned, careful about autonomy.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sizes exist at any time — </a:t>
            </a:r>
            <a:r>
              <a:rPr lang="en-US" sz="1700" b="1" dirty="0">
                <a:solidFill>
                  <a:srgbClr val="74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b="1" dirty="0">
                <a:solidFill>
                  <a:srgbClr val="42A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b="1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speed/capability tradeoff. You pick which one each task is worth.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reasoning, writing, coding, and — the thing we care about today — driving multi-step agentic work.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858000" y="2103120"/>
            <a:ext cx="4754880" cy="4297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TIER LADDER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0" y="2880360"/>
            <a:ext cx="4206240" cy="10515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0" y="2880360"/>
            <a:ext cx="137160" cy="10515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0664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74C3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HAIKU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06640" y="3502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/ cheapest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4069080"/>
            <a:ext cx="4206240" cy="10515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0" y="4069080"/>
            <a:ext cx="137160" cy="10515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0664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SONNET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06640" y="4690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0" y="5257800"/>
            <a:ext cx="4206240" cy="10515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32320" y="5257800"/>
            <a:ext cx="137160" cy="10515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0" y="5394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9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OPUS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06640" y="5879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capable / slowest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you use Claude.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chat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interface most people know. Type a question, get an answer. Good for writing, research, one-off coding questions.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728" y="210312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53048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Desktop app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53048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claude.ai, but lives on your machine. Can open files, browse local folders. What you installed in step 2. Ships with Claude Code.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Terminal for devs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into any repo, type to Claude, watch it read/edit/commit. Agentic coding. THIS is what we're using today. The rest of the workshop lives here.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8728" y="42976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Programmatic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53048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apps on top of Claude. What powers every product above — plus your own. Not covered today, but worth knowing it's there.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ZOOMING IN ON ONE ENTRY POINT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Claude Code is.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terminal-based, agentic coding assistant. You type natural language. Claude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files, runs your commands, edits your code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inside your actual repo, with your actual tools.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Runs on your laptop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never leaves your machine. Claude Code talks to Anthropic's API for the model, but tool calls and file edits happen locally. Self-hosted where it matters.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99178" y="338328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9178" y="338328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73498" y="36576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3498" y="4069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Nothing is hidden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673498" y="47091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call, every file edit, every result — shown inline as it happens. You read them. You approve them. No black-box behavior.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58277" y="338328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8277" y="3383280"/>
            <a:ext cx="339333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32597" y="365760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32597" y="406908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Shapes to your repo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432597" y="47091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teaches it your project. Skills give it playbooks. Rules constrain it. Hooks gate it. MCP gives it new tools. All per-repo, all version-controlled.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THIS IS THE MENTAL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agentic loop.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726680" y="1965960"/>
            <a:ext cx="1554480" cy="15544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26680" y="2304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26680" y="2697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state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326880" y="3566160"/>
            <a:ext cx="1554480" cy="1554480"/>
          </a:xfrm>
          <a:prstGeom prst="ellipse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26880" y="3904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0" y="4297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26680" y="5166360"/>
            <a:ext cx="1554480" cy="15544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26680" y="5504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5897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3566160"/>
            <a:ext cx="1554480" cy="15544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26480" y="39044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6480" y="4297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79992" y="3319272"/>
            <a:ext cx="448056" cy="44805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528048" y="4919472"/>
            <a:ext cx="0" cy="44805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927848" y="5367528"/>
            <a:ext cx="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479792" y="3767328"/>
            <a:ext cx="448056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371600" y="3429000"/>
            <a:ext cx="3200400" cy="1828800"/>
          </a:xfrm>
          <a:prstGeom prst="rect">
            <a:avLst/>
          </a:prstGeom>
          <a:solidFill>
            <a:srgbClr val="F7F7F4"/>
          </a:solidFill>
          <a:ln w="25400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55448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55448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trigger. Sometimes new — you type.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loop keeps going on its own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only comes back when the agent gets stuck or finishes.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4343400"/>
            <a:ext cx="29718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WORKSHOP RUNS ON OPUS 4.7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Opus in 2026.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OPUS 4.5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4C3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coding breakthrough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Opus 4.x. Best model in the world for coding, agents, computer use when it landed. Handled ambiguity without hand-holding.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73498" y="237744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5, 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3498" y="27432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OPUS 4.6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673498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team + docs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73498" y="388620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orchestration. First-class PowerPoint generation. Better document workflows. Jumped ahead on long-horizon tasks.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58277" y="2103120"/>
            <a:ext cx="3393338" cy="3566160"/>
          </a:xfrm>
          <a:prstGeom prst="rect">
            <a:avLst/>
          </a:prstGeom>
          <a:solidFill>
            <a:srgbClr val="000000"/>
          </a:solidFill>
          <a:ln w="25400">
            <a:solidFill>
              <a:srgbClr val="FF9E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32597" y="237744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16,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32597" y="27432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OPUS 4.7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432597" y="33375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using today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32597" y="388620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context at standard pricing. High-res vision (2576px). New tokenizer. Major gains on the hardest software engineering tasks — which is what a trading bot is.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32597" y="51663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WORKSHOP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5943600"/>
            <a:ext cx="10911535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0080" y="5943600"/>
            <a:ext cx="109728" cy="64008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4400" y="59893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Shift+Tab twice. Even on Opus 4.7, make it plan before it touches files. That's how you stay the driver.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AGENT YOUR PROJECT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Code starts in a directory, the first thing it reads is CLAUDE.md. That file tells it what the project is, how the code is organized, what conventions to follow, what to never do.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app-in-a-box repo ships with a detailed CLAUDE.md — that's why, when you run 'claude' in the repo later, it already knows the bot's architecture, the git workflow, the service-layer pattern, and that you're building a trading bot for Bots &amp; Bytes.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write CLAUDE.md files for your own projects. Think of it as onboarding a new teammate. Short, specific, load-bearing.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CUSTOMIZATION SURFACE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ways to shape behavior.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Step-by-step playbooks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say 'I want to create a strategy,' Claude loads .claude/skills/create-strategy/SKILL.md and follows it. Deterministic recipes the agent invokes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728" y="210312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53048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guardrails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53048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 start. .claude/rules/trading-bot-workflow.md is why this bot always tries a strategy before a manual swap. Shape how, not what.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Intercept scripts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before/after prompts or tool calls. block-wallet-secrets.sh scans every message you send for private-key patterns and refuses if it finds one. The safety you can't skip.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8728" y="42976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external tools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53048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Protocol. Claude Code doesn't know about trading — MCP servers hand it tools. This repo exposes 41 trading tools via a local MCP server.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41452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TO BOTS &amp; BYTES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Primitives.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Hooks · MCP Servers · Plugins — what they are, why they matter, how to build your first one.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 ·  MANGROVE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CUSTOMIZATION SURFACE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primitives. One agent.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you can add to Claude Code to shape its behavior. Each one solves a different problem; together they cover the whole surface from 'teach it a new capability' to 'gate it from doing something dangerous.'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24535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2453564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SKILLS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it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19049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playbooks Claude loads on demand. 'When you're doing X, follow these steps, use these templates.' Extends WHAT Claude knows how to 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59404" y="3017520"/>
            <a:ext cx="24535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59404" y="3017520"/>
            <a:ext cx="2453564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33724" y="3291840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HOOKS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33724" y="37033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it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733724" y="4480560"/>
            <a:ext cx="19049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that fire on agent events — before a tool call, after a file edit, on prompt submit. Extends WHEN and WHETHER Claude acts.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78728" y="3017520"/>
            <a:ext cx="24535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78728" y="3017520"/>
            <a:ext cx="2453564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53048" y="3291840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MCP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53048" y="37033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tools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53048" y="4480560"/>
            <a:ext cx="19049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 for plugging in external systems — APIs, databases, services. Extends WHAT Claude can touch beyond your files.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098051" y="3017520"/>
            <a:ext cx="24535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098051" y="3017520"/>
            <a:ext cx="2453564" cy="109728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372371" y="3291840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PLUGINS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72371" y="37033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 it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372371" y="4480560"/>
            <a:ext cx="19049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of skills, hooks, MCP servers, and commands — installable as one package. Extends HOW you distribute all of the above.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Claude a new capability.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playbooks Claude auto-loads when the task calls for them. The answer to 'how do I make it do X the same way every time?'</a:t>
            </a:r>
            <a:endParaRPr lang="en-US" sz="1800" dirty="0"/>
          </a:p>
        </p:txBody>
      </p:sp>
      <p:pic>
        <p:nvPicPr>
          <p:cNvPr id="7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WHAT + WHY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with a SKILL.md file plus optional supporting files (scripts, templates, references). The SKILL.md has YAML frontmatter (name, description, when-to-trigger) and markdown instructions Claude follows when invoked.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Filesystem-based. No API upload. Version-controlled alongside your code.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YOU'D USE 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workflow you repeat: producing a doc in a specific format, running a recipe against data, authoring code that matches a house style. Writing it down once as a skill means Claude does it the same way every time — and you stop re-explaining.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onboarding docs the agent can actually use.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skills work.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914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scans .claude/skills/ (and user-level dirs) at session start. Reads only the frontmatter — name + description — of each SKILL.md. Cheap. Builds a catalog.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06570" y="4069080"/>
            <a:ext cx="21945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9178" y="2103120"/>
            <a:ext cx="3393338" cy="914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73498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73498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prompt matches a skill's description — e.g., 'make me a spreadsheet' matches xlsx skill — Claude loads the full SKILL.md body into its context.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65669" y="4069080"/>
            <a:ext cx="21945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58277" y="2103120"/>
            <a:ext cx="3393338" cy="914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32597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3259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432597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follows the skill's instructions. If the skill references supporting files (scripts, templates), it reads those too. You see normal tool calls.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progressive disclosure.  </a:t>
            </a: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instructions stay out of Claude's context until needed. Cheap to have hundreds of skills, expensive to load them all at once.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SKILL.md.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.claude/skills/create-strategy/SKILL.md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create-strategy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when the user wants to build a trading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strategy. Searches reference library, builds payload,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backtests, evaluates verdict.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allowed-tools: [search_reference_strategies, create_strategy_manual,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backtest_strategy, evaluate_strategy]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Strategy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user asks to build a strategy: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Parse their request for asset, timeframe, goal_hint.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Call `search_reference_strategies` with those params.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Present the top 2-3 candidates. Wait for user pick.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Call `build_strategy_from_reference(reference_id=...)`.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Persist with `create_strategy_manual(...)`.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Immediately call `backtest_strategy` with mode="full".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Present verdict using thresholds in ./threshold_spec.json.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 ·  LEARN MORE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more about skills.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0515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2128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REFERENCE</a:t>
            </a:r>
            <a:endParaRPr lang="en-US" sz="11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868680" y="248716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Extend Claude with skills — Claude Code Docs</a:t>
            </a:r>
            <a:endParaRPr lang="en-US" sz="16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868680" y="285292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https://code.claude.com/docs/en/skills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728" cy="10515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4015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1100" dirty="0"/>
          </a:p>
        </p:txBody>
      </p:sp>
      <p:sp>
        <p:nvSpPr>
          <p:cNvPr id="13" name="Text 10">
            <a:hlinkClick r:id="rId5"/>
          </p:cNvPr>
          <p:cNvSpPr/>
          <p:nvPr/>
        </p:nvSpPr>
        <p:spPr>
          <a:xfrm>
            <a:off x="868680" y="367588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 Skills — Overview</a:t>
            </a:r>
            <a:endParaRPr lang="en-US" sz="1600" dirty="0"/>
          </a:p>
        </p:txBody>
      </p:sp>
      <p:sp>
        <p:nvSpPr>
          <p:cNvPr id="14" name="Text 11">
            <a:hlinkClick r:id="rId5"/>
          </p:cNvPr>
          <p:cNvSpPr/>
          <p:nvPr/>
        </p:nvSpPr>
        <p:spPr>
          <a:xfrm>
            <a:off x="868680" y="40416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https://platform.claude.com/docs/en/agents-and-tools/agent-skills/overview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109728" cy="10515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5902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18" name="Text 15">
            <a:hlinkClick r:id="rId6"/>
          </p:cNvPr>
          <p:cNvSpPr/>
          <p:nvPr/>
        </p:nvSpPr>
        <p:spPr>
          <a:xfrm>
            <a:off x="868680" y="48646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 authoring best practices</a:t>
            </a:r>
            <a:endParaRPr lang="en-US" sz="1600" dirty="0"/>
          </a:p>
        </p:txBody>
      </p:sp>
      <p:sp>
        <p:nvSpPr>
          <p:cNvPr id="19" name="Text 16">
            <a:hlinkClick r:id="rId6"/>
          </p:cNvPr>
          <p:cNvSpPr/>
          <p:nvPr/>
        </p:nvSpPr>
        <p:spPr>
          <a:xfrm>
            <a:off x="868680" y="52303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https://platform.claude.com/docs/en/agents-and-tools/agent-skills/best-practices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66928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5669280"/>
            <a:ext cx="109728" cy="10515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577900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</a:t>
            </a:r>
            <a:endParaRPr lang="en-US" sz="1100" dirty="0"/>
          </a:p>
        </p:txBody>
      </p:sp>
      <p:sp>
        <p:nvSpPr>
          <p:cNvPr id="23" name="Text 20">
            <a:hlinkClick r:id="rId7"/>
          </p:cNvPr>
          <p:cNvSpPr/>
          <p:nvPr/>
        </p:nvSpPr>
        <p:spPr>
          <a:xfrm>
            <a:off x="868680" y="60533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create custom Skills</a:t>
            </a:r>
            <a:endParaRPr lang="en-US" sz="1600" dirty="0"/>
          </a:p>
        </p:txBody>
      </p:sp>
      <p:sp>
        <p:nvSpPr>
          <p:cNvPr id="24" name="Text 21">
            <a:hlinkClick r:id="rId7"/>
          </p:cNvPr>
          <p:cNvSpPr/>
          <p:nvPr/>
        </p:nvSpPr>
        <p:spPr>
          <a:xfrm>
            <a:off x="868680" y="64190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https://support.claude.com/en/articles/12512198-how-to-create-custom-skills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47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Intercept. Gate. Refuse.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that fire on agent lifecycle events. The answer to 'how do I stop the agent from ever doing X?' or 'how do I run Y every time it does Z?'</a:t>
            </a:r>
            <a:endParaRPr lang="en-US" sz="1800" dirty="0"/>
          </a:p>
        </p:txBody>
      </p:sp>
      <p:pic>
        <p:nvPicPr>
          <p:cNvPr id="7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 ·  WHAT + WHY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command (or script) that runs automatically when a specific Claude Code event fires. Configured in settings.json via event name, matcher (which tool triggers it), and the command to run.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execute in YOUR local shell, with YOUR user permissions. They communicate back via exit codes and stdout — exit non-zero to block an action.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YOU'D USE 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autonomous. You can't be in the loop on every tool call. Hooks are the automated safety net: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prompts for secrets before they reach the model.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Refuse writes to protected paths.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every tool call to an audit file.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formatters / linters after edits.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'please be careful' — structural refusals.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 ·  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eight lifecycle events.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914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PER SESSION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154680"/>
            <a:ext cx="293613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Claude Code starts in a project. Load context, check env, warn on drift.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36626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SessionEnd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686300"/>
            <a:ext cx="293613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the session terminates. Flush logs, commit state, notify.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99178" y="2103120"/>
            <a:ext cx="3393338" cy="914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27778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PER TURN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7778" y="28346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UserPromptSubmit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27778" y="3154680"/>
            <a:ext cx="29361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message you send. Scan for secrets, rewrite, or refuse.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27778" y="38557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27778" y="4175760"/>
            <a:ext cx="29361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Claude finishes responding. Final checks, summaries.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27778" y="487680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StopFailure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27778" y="5196840"/>
            <a:ext cx="29361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Claude's response fails. Error handling, retries.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58277" y="2103120"/>
            <a:ext cx="3393338" cy="914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86877" y="23317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TOOL CALL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86877" y="28346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86877" y="3154680"/>
            <a:ext cx="293613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tool runs. Inspect args, block dangerous calls, rewrite params.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86877" y="436626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386877" y="4686300"/>
            <a:ext cx="293613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tool returns. Log, audit, trigger side effects (format, test).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0 = allow. Non-zero = block. stdout can rewrite the prompt or inject instructions.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 secrets from ever reaching the model.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4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.claude/settings.json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"UserPromptSubmit":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"./.claude/hooks/block-wallet-secrets.sh"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4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.claude/hooks/block-wallet-secrets.sh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input=$(cat)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echo "$input" | grep -qE '[0-9a-fA-F]{64}|\b([a-z]+ ){11,}[a-z]+\b'; then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"Blocked: looks like a private key or seed phrase." &gt;&amp;2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"Use ./scripts/stash-secret.sh instead." &gt;&amp;2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1    # non-zero exit = refuse the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"$input"  # pass through unchanged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Safety Net 1 from the Bots &amp; Bytes bot. Your prompt never reaches the model if it matches a key pattern.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 ·  LEARN MORE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more about hooks.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0515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2128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REFERENCE</a:t>
            </a:r>
            <a:endParaRPr lang="en-US" sz="11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868680" y="248716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Hooks reference — Claude Code Docs</a:t>
            </a:r>
            <a:endParaRPr lang="en-US" sz="16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868680" y="285292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https://code.claude.com/docs/en/hooks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728" cy="10515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4015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100" dirty="0"/>
          </a:p>
        </p:txBody>
      </p:sp>
      <p:sp>
        <p:nvSpPr>
          <p:cNvPr id="13" name="Text 10">
            <a:hlinkClick r:id="rId5"/>
          </p:cNvPr>
          <p:cNvSpPr/>
          <p:nvPr/>
        </p:nvSpPr>
        <p:spPr>
          <a:xfrm>
            <a:off x="868680" y="367588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Automate workflows with hooks</a:t>
            </a:r>
            <a:endParaRPr lang="en-US" sz="1600" dirty="0"/>
          </a:p>
        </p:txBody>
      </p:sp>
      <p:sp>
        <p:nvSpPr>
          <p:cNvPr id="14" name="Text 11">
            <a:hlinkClick r:id="rId5"/>
          </p:cNvPr>
          <p:cNvSpPr/>
          <p:nvPr/>
        </p:nvSpPr>
        <p:spPr>
          <a:xfrm>
            <a:off x="868680" y="40416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https://code.claude.com/docs/en/hooks-guide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109728" cy="10515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5902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/ WALKTHROUGH</a:t>
            </a:r>
            <a:endParaRPr lang="en-US" sz="1100" dirty="0"/>
          </a:p>
        </p:txBody>
      </p:sp>
      <p:sp>
        <p:nvSpPr>
          <p:cNvPr id="18" name="Text 15">
            <a:hlinkClick r:id="rId6"/>
          </p:cNvPr>
          <p:cNvSpPr/>
          <p:nvPr/>
        </p:nvSpPr>
        <p:spPr>
          <a:xfrm>
            <a:off x="868680" y="48646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configure hooks — Claude power-user customization</a:t>
            </a:r>
            <a:endParaRPr lang="en-US" sz="1600" dirty="0"/>
          </a:p>
        </p:txBody>
      </p:sp>
      <p:sp>
        <p:nvSpPr>
          <p:cNvPr id="19" name="Text 16">
            <a:hlinkClick r:id="rId6"/>
          </p:cNvPr>
          <p:cNvSpPr/>
          <p:nvPr/>
        </p:nvSpPr>
        <p:spPr>
          <a:xfrm>
            <a:off x="868680" y="52303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https://claude.com/blog/how-to-configure-hooks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66928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5669280"/>
            <a:ext cx="109728" cy="10515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577900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1100" dirty="0"/>
          </a:p>
        </p:txBody>
      </p:sp>
      <p:sp>
        <p:nvSpPr>
          <p:cNvPr id="23" name="Text 20">
            <a:hlinkClick r:id="rId7"/>
          </p:cNvPr>
          <p:cNvSpPr/>
          <p:nvPr/>
        </p:nvSpPr>
        <p:spPr>
          <a:xfrm>
            <a:off x="868680" y="60533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Intercept and control agent behavior with hooks</a:t>
            </a:r>
            <a:endParaRPr lang="en-US" sz="1600" dirty="0"/>
          </a:p>
        </p:txBody>
      </p:sp>
      <p:sp>
        <p:nvSpPr>
          <p:cNvPr id="24" name="Text 21">
            <a:hlinkClick r:id="rId7"/>
          </p:cNvPr>
          <p:cNvSpPr/>
          <p:nvPr/>
        </p:nvSpPr>
        <p:spPr>
          <a:xfrm>
            <a:off x="868680" y="64190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https://platform.claude.com/docs/en/agent-sdk/hooks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9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Claude new tools.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standard for connecting AI agents to external systems. The answer to 'how do I let Claude talk to my database / API / service?'</a:t>
            </a:r>
            <a:endParaRPr lang="en-US" sz="1800" dirty="0"/>
          </a:p>
        </p:txBody>
      </p:sp>
      <p:pic>
        <p:nvPicPr>
          <p:cNvPr id="7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 ·  WHAT + WHY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standard for AI-to-tool integrations, plus the servers that implement it. An MCP server exposes a set of named tools (e.g., `create_wallet`, `get_market_data`) — Claude Code connects to it and discovers the tools at session start.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can run locally (process on your machine) or remotely (HTTP). Built by Anthropic, but truly open — works with many AI clients, not just Claude.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YOU'D USE 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MCP, Claude Code only knows about files and your shell. With MCP, it can query a database, hit an internal API, read from your email, place a trade — anything you expose through a server.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because the protocol is standard, the server you build for Claude works with every other MCP-compatible client.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 ·  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Client, server, transport.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22960" y="3017520"/>
            <a:ext cx="3017520" cy="18288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 client)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tools 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3931920"/>
            <a:ext cx="11887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862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  or  HTTP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8620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list_tools / call_tool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3017520"/>
            <a:ext cx="3017520" cy="18288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code)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named tools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typed schemas.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58200" y="3931920"/>
            <a:ext cx="11887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784080" y="3017520"/>
            <a:ext cx="2224735" cy="1828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84080" y="3246120"/>
            <a:ext cx="2224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784080" y="3749040"/>
            <a:ext cx="2224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API · service · file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browser · trading API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6692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first, then call.  </a:t>
            </a: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session start, Claude asks the server 'what tools do you have?' and gets back names + schemas. Tool calls are just named, typed invocations of what was advertised.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an MCP server in one command.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a local MCP server with Claude Code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-s local -t http defi-agent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http://localhost:9080/mcp/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--header "X-API-Key: dev-key-1"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what's connected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defi-agent:  http://localhost:9080/mcp/  (HTTP)  - ✓ Connected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a session — tools appear automatically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list my tools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list_tools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Returned: 41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 create_wallet, list_wallets, get_portfolio,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create_strategy_manual, backtest_strategy,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execute_swap, get_market_data, kb_search, 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register command, 41 new tools. This is how the Bots &amp; Bytes bot gets trading capabilities Claude Code doesn't have out of the box.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 ·  LEARN MORE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more about MCP.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0515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2128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MCP</a:t>
            </a:r>
            <a:endParaRPr lang="en-US" sz="11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868680" y="248716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 Claude Code to tools via MCP</a:t>
            </a:r>
            <a:endParaRPr lang="en-US" sz="16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868680" y="285292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https://docs.anthropic.com/en/docs/claude-code/mcp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728" cy="10515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4015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</a:t>
            </a:r>
            <a:endParaRPr lang="en-US" sz="1100" dirty="0"/>
          </a:p>
        </p:txBody>
      </p:sp>
      <p:sp>
        <p:nvSpPr>
          <p:cNvPr id="13" name="Text 10">
            <a:hlinkClick r:id="rId5"/>
          </p:cNvPr>
          <p:cNvSpPr/>
          <p:nvPr/>
        </p:nvSpPr>
        <p:spPr>
          <a:xfrm>
            <a:off x="868680" y="367588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Introducing the Model Context Protocol</a:t>
            </a:r>
            <a:endParaRPr lang="en-US" sz="1600" dirty="0"/>
          </a:p>
        </p:txBody>
      </p:sp>
      <p:sp>
        <p:nvSpPr>
          <p:cNvPr id="14" name="Text 11">
            <a:hlinkClick r:id="rId5"/>
          </p:cNvPr>
          <p:cNvSpPr/>
          <p:nvPr/>
        </p:nvSpPr>
        <p:spPr>
          <a:xfrm>
            <a:off x="868680" y="40416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https://www.anthropic.com/news/model-context-protocol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109728" cy="10515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5902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QUICKSTART</a:t>
            </a:r>
            <a:endParaRPr lang="en-US" sz="1100" dirty="0"/>
          </a:p>
        </p:txBody>
      </p:sp>
      <p:sp>
        <p:nvSpPr>
          <p:cNvPr id="18" name="Text 15">
            <a:hlinkClick r:id="rId6"/>
          </p:cNvPr>
          <p:cNvSpPr/>
          <p:nvPr/>
        </p:nvSpPr>
        <p:spPr>
          <a:xfrm>
            <a:off x="868680" y="48646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 your first MCP server — tutorial</a:t>
            </a:r>
            <a:endParaRPr lang="en-US" sz="1600" dirty="0"/>
          </a:p>
        </p:txBody>
      </p:sp>
      <p:sp>
        <p:nvSpPr>
          <p:cNvPr id="19" name="Text 16">
            <a:hlinkClick r:id="rId6"/>
          </p:cNvPr>
          <p:cNvSpPr/>
          <p:nvPr/>
        </p:nvSpPr>
        <p:spPr>
          <a:xfrm>
            <a:off x="868680" y="52303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https://modelcontextprotocol.io/quickstart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66928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5669280"/>
            <a:ext cx="109728" cy="10515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577900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23" name="Text 20">
            <a:hlinkClick r:id="rId7"/>
          </p:cNvPr>
          <p:cNvSpPr/>
          <p:nvPr/>
        </p:nvSpPr>
        <p:spPr>
          <a:xfrm>
            <a:off x="868680" y="60533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Context Protocol — Claude Docs</a:t>
            </a:r>
            <a:endParaRPr lang="en-US" sz="1600" dirty="0"/>
          </a:p>
        </p:txBody>
      </p:sp>
      <p:sp>
        <p:nvSpPr>
          <p:cNvPr id="24" name="Text 21">
            <a:hlinkClick r:id="rId7"/>
          </p:cNvPr>
          <p:cNvSpPr/>
          <p:nvPr/>
        </p:nvSpPr>
        <p:spPr>
          <a:xfrm>
            <a:off x="868680" y="64190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https://docs.claude.com/en/docs/mcp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 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PLUGINS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74C3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 all the above as one package.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bundle skills, hooks, MCP servers, and slash commands into an installable unit. The answer to 'how do I share my setup with my team?'</a:t>
            </a:r>
            <a:endParaRPr lang="en-US" sz="1800" dirty="0"/>
          </a:p>
        </p:txBody>
      </p:sp>
      <p:pic>
        <p:nvPicPr>
          <p:cNvPr id="7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 ·  WHAT + WHY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installable bundle that packages any combination of skills, hooks, MCP servers, agents, and slash commands — with a manifest describing what's inside.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through marketplaces (catalogs of plugins). Anthropic maintains an official marketplace, enterprises can run private ones, and you can pull plugins from any GitHub repo.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YOU'D USE 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12 custom skills, 4 hooks, and an MCP server for your team's workflow. Without plugins, every new engineer rebuilds that setup from scratch.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plugins: one install command, everyone has the same Claude Code environment. Company-wide coding conventions, safety policies, and tool integrations — distributed as a single package.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 ·  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marketplace to installed.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245356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45356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MARKETPLACE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1996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(official Anthropic marketplace, a private company one, or any GitHub repo). Run /plugin inside Claude Code to browse the Discover tab.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66796" y="4069080"/>
            <a:ext cx="21945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9404" y="2103120"/>
            <a:ext cx="245356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59404" y="2103120"/>
            <a:ext cx="245356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88004" y="237744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88004" y="278892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88004" y="3429000"/>
            <a:ext cx="1996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plugin, /plugin install. Claude Code downloads it, validates the manifest, and wires up the skills, hooks, MCP servers, commands it declares.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6120" y="4069080"/>
            <a:ext cx="21945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78728" y="2103120"/>
            <a:ext cx="245356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78728" y="2103120"/>
            <a:ext cx="245356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07328" y="237744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07328" y="278892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07328" y="3429000"/>
            <a:ext cx="1996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plugin's primitives are now part of your session. Skills auto-trigger. Hooks fire on events. MCP tools appear. Commands are callable.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805443" y="4069080"/>
            <a:ext cx="21945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098051" y="2103120"/>
            <a:ext cx="245356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098051" y="2103120"/>
            <a:ext cx="245356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326651" y="237744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651" y="2788920"/>
            <a:ext cx="19963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UPDATES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26651" y="3429000"/>
            <a:ext cx="19963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/plugin update. Pulls the latest version from the marketplace. Audit trail tells you what changed.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Enterprises:  </a:t>
            </a: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marketplaces for company-approved plugins. Cross-compatible with Cowork + Agent SDK.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Browse. Install. Use.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Browse the official marketplace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/plugin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claude-plugins-official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anthropic-skills     Reference skills bundle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mcp-builder          Scaffold new MCP 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skill-creator        Guided skill authoring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theme-factory        Style artifacts with themes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one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/plugin install anthropic-skills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Installed. 10 skills loaded.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a private marketplace (your org's)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plugin marketplace add mangrove/bots-bytes-plugins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Added. 3 plugins available.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/plugin command opens the browser for the official marketplace. Private orgs can point Claude Code at their own GitHub-hosted catalog.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 ·  LEARN MORE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more about plugins.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0515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2128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REFERENCE</a:t>
            </a:r>
            <a:endParaRPr lang="en-US" sz="11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868680" y="248716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Discover and install plugins through marketplaces</a:t>
            </a:r>
            <a:endParaRPr lang="en-US" sz="16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868680" y="285292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https://code.claude.com/docs/en/discover-plugins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728" cy="10515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4015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100" dirty="0"/>
          </a:p>
        </p:txBody>
      </p:sp>
      <p:sp>
        <p:nvSpPr>
          <p:cNvPr id="13" name="Text 10">
            <a:hlinkClick r:id="rId5"/>
          </p:cNvPr>
          <p:cNvSpPr/>
          <p:nvPr/>
        </p:nvSpPr>
        <p:spPr>
          <a:xfrm>
            <a:off x="868680" y="367588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Customize Claude Code with plugins</a:t>
            </a:r>
            <a:endParaRPr lang="en-US" sz="1600" dirty="0"/>
          </a:p>
        </p:txBody>
      </p:sp>
      <p:sp>
        <p:nvSpPr>
          <p:cNvPr id="14" name="Text 11">
            <a:hlinkClick r:id="rId5"/>
          </p:cNvPr>
          <p:cNvSpPr/>
          <p:nvPr/>
        </p:nvSpPr>
        <p:spPr>
          <a:xfrm>
            <a:off x="868680" y="40416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https://claude.com/blog/claude-code-plugins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48056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109728" cy="10515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5902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100" dirty="0"/>
          </a:p>
        </p:txBody>
      </p:sp>
      <p:sp>
        <p:nvSpPr>
          <p:cNvPr id="18" name="Text 15">
            <a:hlinkClick r:id="rId6"/>
          </p:cNvPr>
          <p:cNvSpPr/>
          <p:nvPr/>
        </p:nvSpPr>
        <p:spPr>
          <a:xfrm>
            <a:off x="868680" y="486460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Plugins for Claude Code and Cowork</a:t>
            </a:r>
            <a:endParaRPr lang="en-US" sz="1600" dirty="0"/>
          </a:p>
        </p:txBody>
      </p:sp>
      <p:sp>
        <p:nvSpPr>
          <p:cNvPr id="19" name="Text 16">
            <a:hlinkClick r:id="rId6"/>
          </p:cNvPr>
          <p:cNvSpPr/>
          <p:nvPr/>
        </p:nvSpPr>
        <p:spPr>
          <a:xfrm>
            <a:off x="868680" y="523036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https://claude.com/plugins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66928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5669280"/>
            <a:ext cx="109728" cy="10515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577900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3" name="Text 20">
            <a:hlinkClick r:id="rId7"/>
          </p:cNvPr>
          <p:cNvSpPr/>
          <p:nvPr/>
        </p:nvSpPr>
        <p:spPr>
          <a:xfrm>
            <a:off x="868680" y="6053328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Cowork and plugins for teams across the enterprise</a:t>
            </a:r>
            <a:endParaRPr lang="en-US" sz="1600" dirty="0"/>
          </a:p>
        </p:txBody>
      </p:sp>
      <p:sp>
        <p:nvSpPr>
          <p:cNvPr id="24" name="Text 21">
            <a:hlinkClick r:id="rId7"/>
          </p:cNvPr>
          <p:cNvSpPr/>
          <p:nvPr/>
        </p:nvSpPr>
        <p:spPr>
          <a:xfrm>
            <a:off x="868680" y="641908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https://claude.com/blog/cowork-plugins-across-enterprise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primitives-deck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STACK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they compose.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371600" y="2103120"/>
            <a:ext cx="9448495" cy="777240"/>
          </a:xfrm>
          <a:prstGeom prst="rect">
            <a:avLst/>
          </a:prstGeom>
          <a:solidFill>
            <a:srgbClr val="000000"/>
          </a:solidFill>
          <a:ln w="25400">
            <a:solidFill>
              <a:srgbClr val="74C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71600" y="2103120"/>
            <a:ext cx="164592" cy="777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37360" y="2240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12080" y="2240280"/>
            <a:ext cx="5425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distributable wrapper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3017520"/>
            <a:ext cx="944849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71600" y="3017520"/>
            <a:ext cx="164592" cy="777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737360" y="3154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12080" y="3154680"/>
            <a:ext cx="5425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— what Claude knows how to do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3931920"/>
            <a:ext cx="944849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E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371600" y="3931920"/>
            <a:ext cx="164592" cy="777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73736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12080" y="4069080"/>
            <a:ext cx="5425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what Claude can touch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71600" y="4846320"/>
            <a:ext cx="944849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7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371600" y="4846320"/>
            <a:ext cx="164592" cy="777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737360" y="4983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12080" y="4983480"/>
            <a:ext cx="5425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— when Claude may act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371600" y="5760720"/>
            <a:ext cx="944849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371600" y="5760720"/>
            <a:ext cx="164592" cy="777240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737360" y="5897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SLASH COMMANDS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212080" y="5897880"/>
            <a:ext cx="5425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users invoke directly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6858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primitives, one surface. </a:t>
            </a: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skill (most common). Add hooks when safety matters. Add an MCP server when you need external tools. Bundle as a plugin when it's time to share.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THAT CATCHES MISTAKES EARLY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Read. The. Tool. Calls.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045433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build me a momentum strategy for ETH on 1h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search_reference_strategies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asset: "ETH"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timeframe: "1h"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goal_hint: "momentum"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Returned: 3 candidates (ref-001, ref-004, ref-007)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build_strategy_from_reference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reference_id: "ref-001"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Returned: strategy payload (signals, timeframe, risk)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create_strategy_manual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named, the arguments are visible, the result is visible. If the agent did something you didn't expect, the log tells you exactly what.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645920"/>
            <a:ext cx="99971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"The same thing that lets Claude build your app in 30 seconds can wire your API key to a bad endpoint if you let it."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57607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NOTE BEFORE WE BUILD ANYTHING</a:t>
            </a:r>
            <a:endParaRPr lang="en-US" sz="1600" dirty="0"/>
          </a:p>
        </p:txBody>
      </p:sp>
      <p:pic>
        <p:nvPicPr>
          <p:cNvPr id="4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SEE ON YOUTUBE THIS WEEK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exhibits.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2716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22716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"Enable bypass permissions mode."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600,000 subscribers.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467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every permission prompt. The prompts ARE the safety layer.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touching real keys or endpoints, with no user-in-the-loop, can be weaponized by a prompt-injection in any README, issue, or web page it reads.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24448" y="2103120"/>
            <a:ext cx="5227168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24448" y="2103120"/>
            <a:ext cx="522716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98768" y="24231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 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98768" y="283464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"Paste your API key. Store it in .env."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98768" y="40233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 general crypto crowd.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98768" y="4480560"/>
            <a:ext cx="467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chat end up in transcripts, logs, and exports. .env files get committed to public repos constantly — GitHub scrapers find them in minutes.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un-leak a key. You can only rotate. Scoped keys, secret managers, pre-commit hooks are the actual answer.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9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99971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"Convenience is a security budget. Know what you're spending it on."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097280" y="57607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PRINCIPLE WE'RE GOING TO KEEP COMING BACK TO</a:t>
            </a:r>
            <a:endParaRPr lang="en-US" sz="1600" dirty="0"/>
          </a:p>
        </p:txBody>
      </p:sp>
      <p:pic>
        <p:nvPicPr>
          <p:cNvPr id="4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INTO THIS BOT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 safety nets.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32004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 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Key-paste block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hook scans every prompt you submit. If it matches a private key or seed phrase shape, your message never leaves the terminal. Not the bot, not the logs, not the transcript.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109728" cy="32004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 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73498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 gate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73498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has a backup_confirmed_at column. Live trading refuses to run until you've saved the secret somewhere durable. and explicitly confirmed with a terminal command. The secret is NOT stored in plaintext, is never revealed in a chat session, never sent to anthropic, and never crosses the internet. If you don't save it, you risk losing everything.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109728" cy="32004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 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32597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Keys never in plaintext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32597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keys are encrypted at rest with Fernet. Master key lives in your OS keychain, or a chmod-600 file if you opt out. The agent decrypts in-memory only to sign, then wipes. A stolen laptop or a disk leak doesn't leak keys.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 ·  01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key-paste block.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fat-finger your private key into chat. The bot sees it. Anthropic's logs see it. Your ~/.claude/projects/&lt;hash&gt;/ transcript file sees it. If you ever share the transcript, the key goes with it.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un-leak a key. You can only rotate.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2103120"/>
            <a:ext cx="109728" cy="4114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25146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.claude/hooks/block-wallet-secrets.sh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prompt you submit. Scans for 64-char hex patterns and common mnemonic shapes. Match = refusal, before the message leaves your terminal.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actually import a wallet, use: </a:t>
            </a:r>
            <a:r>
              <a:rPr lang="en-US" sz="15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./scripts/stash-secret.sh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hidden-input prompt, local-only, never touches the chat.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 · 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backup gate.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333237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332378" cy="914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2783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create_wallet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secret_id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backup_confirmed_at: NULL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trading:  REFUSED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45610" y="4114800"/>
            <a:ext cx="31089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29658" y="2286000"/>
            <a:ext cx="333237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29658" y="2286000"/>
            <a:ext cx="3332378" cy="914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3978" y="256032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03978" y="29718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REVEAL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703978" y="3657600"/>
            <a:ext cx="2783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./scripts/reveal-secret.sh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terminal output.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key, doesn't log it.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trading:  REFUSED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35189" y="4114800"/>
            <a:ext cx="310896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19237" y="2286000"/>
            <a:ext cx="333237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19237" y="2286000"/>
            <a:ext cx="3332378" cy="914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93557" y="256032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 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93557" y="29718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493557" y="3657600"/>
            <a:ext cx="2783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./scripts/confirm-backup.sh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saved it somewhere durable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password manager, paper, hw wallet.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trading:  UNLOCKED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requirements for any live fire: user asks · wallet confirmed · allocation complete · confirm=true. All four or nothing happens.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 · 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Keys never in plaintext.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9456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key is </a:t>
            </a:r>
            <a:r>
              <a:rPr lang="en-US" sz="1500" b="1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Fernet-encrypted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it hits disk. What's stored in </a:t>
            </a:r>
            <a:r>
              <a:rPr lang="en-US" sz="15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agent.db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ciphertext — useless without the master key.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key lives in your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keychain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(macOS Keychain / Windows Credential Manager / Linux Secret Service). If you opt out, it's a file at </a:t>
            </a:r>
            <a:r>
              <a:rPr lang="en-US" sz="15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agent-data/master.key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chmod 600.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decrypts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only to sign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wipes the plaintext immediately after. A disk leak, a stolen laptop, a stray backup — the key stays sealed.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2194560"/>
            <a:ext cx="4754880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32320" y="3108960"/>
            <a:ext cx="4206240" cy="868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0" y="3108960"/>
            <a:ext cx="137160" cy="86868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0664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3502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layer — can't paste keys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4114800"/>
            <a:ext cx="4206240" cy="868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32320" y="4114800"/>
            <a:ext cx="137160" cy="86868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0664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4507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gated live fire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0" y="5120640"/>
            <a:ext cx="4206240" cy="868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32320" y="5120640"/>
            <a:ext cx="137160" cy="86868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0" y="5212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06640" y="5513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— encrypted, keychain-sealed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PHILOSOPHY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 before live.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starts in draft or paper. Promotion to live is a separate, explicit step — four requirements, all or nothing. We stop at paper today. Chapters 06–08 take you the rest of the way, on your own time, when you're ready.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11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HAVE.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 Trust boundaries. Where the bot ends and the world begins.</a:t>
            </a:r>
            <a:endParaRPr lang="en-US" sz="2200" dirty="0"/>
          </a:p>
        </p:txBody>
      </p:sp>
      <p:pic>
        <p:nvPicPr>
          <p:cNvPr id="6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PICTURE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things run.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10911535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LAPTOP  ·  TRUST BOUNDARY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97280" y="2834640"/>
            <a:ext cx="2560320" cy="128016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49040" y="3474720"/>
            <a:ext cx="14173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0" y="3090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 HTTP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:9080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12080" y="2651760"/>
            <a:ext cx="4389120" cy="17373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DEFI-AGENT  ·  UVICORN :9080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3154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 MCP tools  +  REST API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APScheduler (in-process cron)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Fernet-encrypted wallet keys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SQLite: strategies, trades, wallets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966960" y="2926080"/>
            <a:ext cx="1463040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96696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agent-data/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master.key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5120640"/>
            <a:ext cx="5212080" cy="12801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  ·  HOSTED API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 ·  strategies  ·  knowledge base  ·  OHLCV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5989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your private key.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55080" y="5120640"/>
            <a:ext cx="5166360" cy="12801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92240" y="5212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MAINNET  ·  PUBLIC CHAIN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92240" y="5623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1inch router  ·  USDC  ·  ETH  ·  WBTC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92240" y="59893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touched when you go LIVE.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WORTH INTERNALIZING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laptop is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trust boundary.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here. Trades execute from here. State lives here. Anything beyond the laptop is either public (on-chain) or an advisor (Mangrove) — neither can move your funds. If Mangrove is breached tomorrow, you still have your wallet.</a:t>
            </a:r>
            <a:endParaRPr lang="en-US" sz="1800" dirty="0"/>
          </a:p>
        </p:txBody>
      </p:sp>
      <p:pic>
        <p:nvPicPr>
          <p:cNvPr id="5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PYTHON PROCESS, PORT 9080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defi-agent.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serves a REST API under /api/v1/agent/* and an MCP endpoint at /mcp/ — Claude Code talks to the MCP side. Same service layer behind both. 41 tools.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scheduler in-process (APScheduler). When a strategy is paper or live, the scheduler registers a cron job that fires evaluate_strategy on the timeframe. No separate daemon, no system cron.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wallet keys Fernet-encrypted in the SQLite file. The master key lives either in your OS keychain or a 600-perm file at agent-data/master.key. The agent decrypts only in memory, only to sign, wipes immediately after.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process isn't running, nothing works. One `ps aux | grep uvicorn` check tells you everything.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AT MANGROVE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hosted side.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32004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Signals + strategies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bot doesn't reimplement signal math. It sends strategy + market snapshot, gets back order intents. RSI, MACD, ichimoku, ADX, all of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109728" cy="32004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mangrove-kb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73498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base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73498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library of signals and patterns. Every parameter choice cites a KB entry — no vibes. Try kb_search("momentum") later.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109728" cy="32004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mangrovemarkets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32597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data + DEX routing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32597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OHLCV, spot prices, gas, 1inch quotes. Prepares the unsigned swap payload. The agent signs it locally and hands the signed tx back for broadcast.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74C3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645920"/>
            <a:ext cx="999713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"Nothing touches Base mainnet until YOU go live. Paper mode is a ghost — identical in your DB, zero on-chain, zero funds."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57607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DEFAULT IS SAFE</a:t>
            </a:r>
            <a:endParaRPr lang="en-US" sz="1600" dirty="0"/>
          </a:p>
        </p:txBody>
      </p:sp>
      <p:pic>
        <p:nvPicPr>
          <p:cNvPr id="4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Break.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 Hydrate.  Ask your neighbor a question.  Check your bot is still running.</a:t>
            </a:r>
            <a:endParaRPr lang="en-US" sz="2200" dirty="0"/>
          </a:p>
        </p:txBody>
      </p:sp>
      <p:pic>
        <p:nvPicPr>
          <p:cNvPr id="6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37490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MANGROVE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KB, SDKs, and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signal library.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infrastructure your trading bot is built on.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 &amp; BYTES  ·  MANGROVE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layers, one bot.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bot asked for a momentum strategy, three pieces of Mangrove infrastructure cooperated to answer. Here's what they are and what each one does.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339333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 KB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mangrove-kb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48056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library of trading signals and technical indicators. 223 signals, 40+ indicators, all registered via a Python decorator pattern. Runs locally; no API call needed.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99178" y="2834640"/>
            <a:ext cx="339333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99178" y="283464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73498" y="31089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73498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MangroveAI SDK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73498" y="40690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mangroveai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673498" y="448056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 for Mangrove's hosted intelligence — strategy authoring, backtesting, signal evaluation, reference strategies, on-chain queries, DeFi data, social signals.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58277" y="2834640"/>
            <a:ext cx="339333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158277" y="2834640"/>
            <a:ext cx="339333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432597" y="310896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32597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MangroveMarkets SDK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432597" y="40690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mangrovemarkets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32597" y="448056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 for Mangrove's execution layer — market data, wallet management, DEX routing via 1inch. The thing that actually signs transactions and broadcasts to Base.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Base.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library of trading signals and indicators. Everything the bot composes strategies from.</a:t>
            </a:r>
            <a:endParaRPr lang="en-US" sz="2000" dirty="0"/>
          </a:p>
        </p:txBody>
      </p:sp>
      <p:pic>
        <p:nvPicPr>
          <p:cNvPr id="6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 ·  DEFINITION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KB is.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pip-installable Python package — </a:t>
            </a:r>
            <a:r>
              <a:rPr lang="en-US" sz="17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mangrove-kb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containing 223 trading signals and 40+ technical indicators, all implemented as composable Python functions. Open source. Runs locally. No API key, no network call.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a pure function: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 pandas DataFrame of OHLCV data and returns a boolean.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is a class implementing </a:t>
            </a:r>
            <a:r>
              <a:rPr lang="en-US" sz="1700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IndicatorInterface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computes a derived time series (RSI, MACD line, Bollinger bands, etc.). Signals consume indicators.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5212080"/>
            <a:ext cx="3393338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5212080"/>
            <a:ext cx="3393338" cy="73152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53949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76072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MIT-style. Read it, fork it, extend it, audit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9178" y="5212080"/>
            <a:ext cx="3393338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5212080"/>
            <a:ext cx="3393338" cy="73152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53949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73498" y="576072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in-process. No API call, no latency, no rate limit.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58277" y="5212080"/>
            <a:ext cx="3393338" cy="10972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58277" y="5212080"/>
            <a:ext cx="3393338" cy="73152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32597" y="53949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32597" y="576072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you combine into strategies with AND / OR / NOT logic.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 ·  BY THE NUMBERS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223 signals. 40+ indicators.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every major technical analysis family. Growing.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1091153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109728" cy="685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26080" y="26060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1605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20640" y="2724912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 · EMA · MACD · ADX · Aroon · Ichimoku · PSAR · DEMA · ALMA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355848"/>
            <a:ext cx="1091153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" y="3355848"/>
            <a:ext cx="109728" cy="685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4472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26080" y="340156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160520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0640" y="3520440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RSI · Stochastic · Williams %R · KAMA · ROC · PPO · StochRSI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151376"/>
            <a:ext cx="1091153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0080" y="4151376"/>
            <a:ext cx="109728" cy="685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42428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26080" y="41970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16052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20640" y="4315968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Engulfing · Doji · Harami · Pin bar · Evening star · Dark cloud cover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946904"/>
            <a:ext cx="1091153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40080" y="4946904"/>
            <a:ext cx="109728" cy="685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50383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VOLUME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926080" y="4992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4160520" y="5175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20640" y="5111496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OBV · MFI · CMF · VWAP · ADI · ADOSC · Ease of movement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5742432"/>
            <a:ext cx="1091153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40080" y="5742432"/>
            <a:ext cx="109728" cy="685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68680" y="5833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VOLATILITY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926080" y="57881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4160520" y="5971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20640" y="5907024"/>
            <a:ext cx="6248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Bollinger Bands · ATR · Keltner Channel · Donchian · Chandelier exit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 ·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Anatomy of a signal.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mangrove_kb/signals/momentum.py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mangrove_kb.registry import RuleRegistry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mangrove_kb.indicators import RSI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@RuleRegistry.register("rsi_overbought")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rsi_overbought(df: pd.DataFrame, window: int = 14,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threshold: float = 70.0) -&gt; bool: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if RSI is above the overbought threshold.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FILTER. Requires: Close.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rsi = RSI(df, window=window).compute()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rsi.iloc[-1] &gt; threshold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addressable by name anywhere in the stack: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RuleRegistry.evaluate({"name": "rsi_overbought"}, df)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+ decorator = named signal. Add one signal = four lines. 223 of these compose every strategy the bot will ever build.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 ·  A CLOSER LOOK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Signals come with context.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a Python function with a real docstring — what it detects, when it fires, and crypto-specific caveats. Here are three from different categories, verbatim from the library.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339333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502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macd_bullish_cross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8446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42A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line crosses above the signal line.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42A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bullish MACD crossover occurs when the MACD line crosses above the signal line, indicating potential upward momentum.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Crypto's high volatility may produce frequent signals; use with trend confirmation.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99178" y="2880360"/>
            <a:ext cx="339333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99178" y="2880360"/>
            <a:ext cx="3393338" cy="109728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73498" y="31546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73498" y="3502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bullish_engulfing_trigger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73498" y="4069080"/>
            <a:ext cx="28446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74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bullish candle's body completely contains the previous bearish candle's body.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74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bullish reversal pattern. One of the most reliable price-action signals when it appears at key support levels.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[NISON], [KB-07], [STOCKCHARTS].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58277" y="2880360"/>
            <a:ext cx="339333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8277" y="288036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32597" y="3154680"/>
            <a:ext cx="2844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32597" y="350215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bb_squeeze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432597" y="4069080"/>
            <a:ext cx="28446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 width drops below a volatility threshold.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squeeze signals low volatility and an impending breakout. Traders use it to identify coiled setups before directional moves.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ONCE on the onset bar, not while the squeeze persists.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 ·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agent actually uses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Build me a momentum strategy for ETH on 1h.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kb_search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"momentum"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 42 signals — rsi_cross_up, sma_cross_up,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macd_bullish_cross, stoch_cross_up, ...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signals.get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signal_name: "rsi_cross_up"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description: "Check if RSI crosses above a threshold.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 crypto, consider higher thresholds (80/20) during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strong trends.",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default_params: {window: 14, threshold: 30}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Proposing strategy — each signal cited by name: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entry:  [rsi_cross_up, sma_cross_up, adx_strong_trend]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exit:   [rsi_cross_down, sma_cross_down]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(At runtime, RuleRegistry.evaluate() dispatches by name.)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pattern: Discover (kb_search) → Read (signals.get) → Cite (strategy dict by name) → Invoke (RuleRegistry dispatch). No prompt engineering substitutes for real curated content.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SDKs.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clients. One for intelligence (MangroveAI), one for execution (MangroveMarkets).</a:t>
            </a:r>
            <a:endParaRPr lang="en-US" sz="2000" dirty="0"/>
          </a:p>
        </p:txBody>
      </p:sp>
      <p:pic>
        <p:nvPicPr>
          <p:cNvPr id="6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SDKs  ·  INTELLIGENCE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MangroveAI SDK.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mangroveai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hosted-intelligence client. Strategy authoring, backtesting, signal evaluation, reference library, on-chain queries. Everything that reasons ABOUT markets, not in them.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20040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lifecycle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58963" y="320040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58963" y="320040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41843" y="338328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.strategies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41843" y="384048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list, update, archive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7846" y="320040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77846" y="320040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60726" y="338328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.backtesting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60726" y="384048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eval, 6-metric verdict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96729" y="320040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96729" y="320040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79609" y="338328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.signals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79609" y="384048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KB signals against live data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15612" y="320040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515612" y="320040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698492" y="338328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.execution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98492" y="384048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strategy, get order intents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66344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40080" y="466344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2960" y="48463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.kb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22960" y="530352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reference strategies + docs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858963" y="466344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2858963" y="466344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041843" y="48463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.crypto_assets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041843" y="530352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metadata, contract addresses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77846" y="466344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077846" y="466344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260726" y="48463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.on_chain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260726" y="530352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state, tx lookups, gas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296729" y="466344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296729" y="466344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479609" y="48463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.defi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479609" y="530352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TVL, pool stats, protocol health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515612" y="4663440"/>
            <a:ext cx="2036003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515612" y="4663440"/>
            <a:ext cx="2036003" cy="73152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698492" y="48463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.social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698492" y="5303520"/>
            <a:ext cx="16702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mentions, trend data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40080" y="5852160"/>
            <a:ext cx="10911535" cy="82296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mangroveai import MangroveAI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MangroveAI(api_key="prod_...")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strategies = client.strategies.list()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SDKs  ·  EXECUTION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MangroveMarkets SDK.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4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mangrovemarkets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execution client. Market data, wallet management, DEX routing. This is the layer that actually signs transactions and broadcasts to chain.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20040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.wallet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import wallets. Fernet-encrypted key storage. Balance queries. Self-custody by design — the SDK never exports your plaintext key.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320040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320040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73498" y="420624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Quote, approve, prepare swap, broadcast. Routes via 1inch. All transactions signed locally by YOUR process, not on Mangrove's servers.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58277" y="3200400"/>
            <a:ext cx="339333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58277" y="3200400"/>
            <a:ext cx="339333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432597" y="347472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47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.portfolio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432597" y="4206240"/>
            <a:ext cx="28446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balances across chains. Historical P&amp;L. Exposure by token, by position. The read-only view into what you own.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5852160"/>
            <a:ext cx="10911535" cy="82296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mangrovemarkets import MangroveMarkets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MangroveMarkets(base_url="...")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 = client.dex.get_quote(from_token="USDC", to_token="ETH", amount=5)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SDKs  · 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pieces fit.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926080"/>
            <a:ext cx="2522144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2A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2522144" cy="1371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 KB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open 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definitions.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classes.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lookups.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0512" y="4069080"/>
            <a:ext cx="2377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6544" y="2926080"/>
            <a:ext cx="2522144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E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36544" y="2926080"/>
            <a:ext cx="2522144" cy="1371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19424" y="32461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MANGROVEAI SDK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19424" y="374904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intelligence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19424" y="41148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evaluation,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backtesting, KB search,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+ defi data.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76976" y="4069080"/>
            <a:ext cx="2377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33008" y="2926080"/>
            <a:ext cx="2522144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7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33008" y="2926080"/>
            <a:ext cx="2522144" cy="1371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15888" y="32461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MANGROVEMARKETS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5888" y="374904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execution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15888" y="41148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custody, DEX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signed-tx broadcast,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state.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3439" y="4069080"/>
            <a:ext cx="2377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029471" y="2926080"/>
            <a:ext cx="2522144" cy="228600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029471" y="2926080"/>
            <a:ext cx="2522144" cy="1371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212351" y="32461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APP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212351" y="374904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 on your laptop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212351" y="41148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defi-agent process,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CLAUDE.md,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server, audit trail.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ships the primitives. AI SDK composes and evaluates them. Markets SDK executes the intent. Your app orchestrates the loop.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LIBRARY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signal library, in practice.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actually use 223 signals to build a strategy that trades.</a:t>
            </a:r>
            <a:endParaRPr lang="en-US" sz="2000" dirty="0"/>
          </a:p>
        </p:txBody>
      </p:sp>
      <p:pic>
        <p:nvPicPr>
          <p:cNvPr id="6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LIBRARY  · 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Composing a strategy.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4C3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strategy is a dict of signal rules — no imperative code needed.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"ETH momentum with RSI + SMA crossover",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"asset": "ETH",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"timeframe": "1h",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"entry_rules":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"rsi_cross_up",       "params": {"window": 14, "threshold": 30}},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"sma_cross_up",       "params": {"window_fast": 20, "window_slow": 50}},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"adx_strong_trend",   "params": {"window": 14, "threshold": 25}},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"exit_rules":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"rsi_cross_down",     "params": {"window": 14, "threshold": 70}},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"sma_cross_down",     "params": {"window_fast": 20, "window_slow": 50}},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"risk": {"stop_loss_pct": 0.04, "take_profit_pct": 0.08},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 by name — Mangrove's KB + AI SDK do the math. No numpy, no TA-Lib, no wheel reinvention.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LIBRARY  ·  THE LOOP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→ compose → backtest → iterate.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25221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52214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2064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kb_search("momentum") surfaces signals by theme. search_reference_strategies() finds pre-backtested combinations that match your asset + timeframe + goal.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7944" y="3931920"/>
            <a:ext cx="182880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6544" y="2103120"/>
            <a:ext cx="25221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36544" y="2103120"/>
            <a:ext cx="252214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65144" y="237744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65144" y="274320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665144" y="3474720"/>
            <a:ext cx="2064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strategy dict — entry rules, exit rules, risk config. Either dictate manually, let Claude Code author it from a reference, or run autonomous mode to generate candidates.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04408" y="3931920"/>
            <a:ext cx="182880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33008" y="2103120"/>
            <a:ext cx="25221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33008" y="2103120"/>
            <a:ext cx="252214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61608" y="237744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61608" y="274320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BACKTEST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61608" y="3474720"/>
            <a:ext cx="2064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backtest_strategy() runs your logic against historical OHLCV. Returns 6 metrics (Sortino, Sharpe, Calmar, IRR, max drawdown, win rate) + a PASS / MARGINAL / FAIL verdict.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800871" y="3931920"/>
            <a:ext cx="182880" cy="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029471" y="2103120"/>
            <a:ext cx="25221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029471" y="2103120"/>
            <a:ext cx="2522144" cy="914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258071" y="2377440"/>
            <a:ext cx="206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258071" y="2743200"/>
            <a:ext cx="206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ITERATE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58071" y="3474720"/>
            <a:ext cx="20649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signal, adjust a threshold, change timeframe, rerun. Seconds per iteration, not hours. The speed of this loop is the reason you use an AI agent to drive it.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from step 4 to step 1. Every iteration makes the strategy cheaper to test than the last.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 PUBLIC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in public.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Mangrove's foundation is open source — and what that means for you.</a:t>
            </a:r>
            <a:endParaRPr lang="en-US" sz="2000" dirty="0"/>
          </a:p>
        </p:txBody>
      </p:sp>
      <p:pic>
        <p:nvPicPr>
          <p:cNvPr id="6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 PUBLIC  ·  WHY IT MATTERS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 is good for the community.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2423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infrastructure is one of the most consequential places to be careful about trust. OSS is how Mangrove earns it — and how the community gets something better in return.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53186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109728" cy="15087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7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645920" y="34290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Inspectable by default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45920" y="3886200"/>
            <a:ext cx="412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in the KB is 10–40 lines of Python you can read, audit, and reason about. If you don't understand what it does, you can find out — no docs required, the code IS the docs.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3008" y="3246120"/>
            <a:ext cx="53186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33008" y="3246120"/>
            <a:ext cx="109728" cy="15087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07328" y="3429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7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38848" y="34290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Forkable when you disagree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238848" y="3886200"/>
            <a:ext cx="412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read of a signal differs from ours, fork it. Change the threshold. Add a guard. Contribute it back if it's better. The barrier to disagreeing productively is one PR.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892040"/>
            <a:ext cx="53186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892040"/>
            <a:ext cx="109728" cy="15087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5074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7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645920" y="50749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Shared by everyone who uses it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45920" y="5532120"/>
            <a:ext cx="412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who catches a bug or adds a signal helps every other user. The library gets better in proportion to how much it gets used — a feedback loop you can't buy.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33008" y="4892040"/>
            <a:ext cx="53186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33008" y="4892040"/>
            <a:ext cx="109728" cy="150876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07328" y="5074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47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238848" y="50749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Portable across tools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38848" y="5532120"/>
            <a:ext cx="412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mangrove-kb doesn't care whether you're using Mangrove's hosted API, your own backtester, or a Jupyter notebook. Open primitives travel with you even if the platform doesn't.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 PUBLIC  ·  WHAT'S OPEN, HOW TO CONTRIBUTE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primitives. Hosted intelligence.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mangrove-kb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library. 223 signals, 40+ indicators. Pip install, fork, PR against it.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clients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mangroveai and mangrovemarkets Python clients. Open so you can audit what gets sent over the wire.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app-in-a-box (this workshop's repo), x402 templates, trader plugins. Fork and build.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SERVICE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evaluation + backtesting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compute-heavy path. OHLCV streaming, parallel backtest, risk metrics.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strategy library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strategies with vetted backtests. Growing as users contribute via API.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routing + on-chain services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1inch integration, gas estimation, tx prep. Never sees your private key — you sign locally.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6035040"/>
            <a:ext cx="10911535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6062472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CONTRIBUTE: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github.com/MangroveTechnologies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100" b="1" kern="0" spc="400" dirty="0">
                <a:solidFill>
                  <a:srgbClr val="FF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PACKAGES: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pypi.org/project/mangrove-kb · mangroveai · mangrovemarkets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mangrove-internals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9260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 INTERNALS  ·  RESOURCES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Resources.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github.com/MangroveTechnologies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mangrovedeveloper.ai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PYPI: mangrove-kb · mangroveai · mangrovemarkets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tim.darrah@mangrove.ai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PUBLIC. LIBRARY GROWS WITH YOU.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11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STRATEGY.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empty database to a backtested, committed strategy. Reference-first. PASS / MARGINAL / FAIL — and what to do about each.</a:t>
            </a:r>
            <a:endParaRPr lang="en-US" sz="2200" dirty="0"/>
          </a:p>
        </p:txBody>
      </p:sp>
      <p:pic>
        <p:nvPicPr>
          <p:cNvPr id="6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PARTS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 strategy is.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you want to trade. Workshop default: ETH.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728" y="210312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53048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Timeframe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53048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for evaluation. 5m · 15m · 30m · 1h · 4h · 1d. We'll use 1h — enough signal, not too much noise, fast backtests.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 signals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that open a position. E.g. rsi_cross_up, sma_cross_up, adx_strong_trend.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8728" y="42976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signals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53048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that close. rsi_cross_down, trailing stop, fixed target.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AUTHOR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your authoring mode.</a:t>
            </a:r>
            <a:endParaRPr lang="en-US" sz="4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TO 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2A7C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Reference-first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searches a curated library for matches. Shows you top 2–3. You pick one. Signals are copied verbatim from a strategy that's already been backtested.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strategy. Always. This is the workshop default.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9E1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Manual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dictate the exact signals and parameters. The agent must cite a KB entry for every choice — no freestyling.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You've read the KB and know what you want.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471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Autonomous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generates 7 candidate strategies itself, backtests all of them, ranks by performance. ~60 seconds vs ~10 for reference-first.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a second opinion, or couldn't find a good reference match.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REFERENCE-FIRST IS THE DEFAULT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 truth, fast.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strategy in the library has been backtested before it was added. You're not starting from zero — you're testing whether a proven structure still works on today's market.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choices are fixed. Copied verbatim. So you're testing the market, not the strategy. That's a cleaner hypothesis.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fast. ~10 seconds for reference-first vs ~60 for autonomous. In a workshop, speed matters.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THIS VERBATIM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prompt.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9448495" cy="2011680"/>
          </a:xfrm>
          <a:prstGeom prst="rect">
            <a:avLst/>
          </a:prstGeom>
          <a:solidFill>
            <a:srgbClr val="1A1A1A"/>
          </a:solidFill>
          <a:ln w="25400">
            <a:solidFill>
              <a:srgbClr val="42A7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2560320"/>
            <a:ext cx="8899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me a momentum strategy for ETH on 1h. Use a reference."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46634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bot will do: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02920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search_reference_strategies(asset="ETH", timeframe="1h", goal_hint="momentum")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Return 2–3 ranked candidates with signal names + categories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Wait for you to pick 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SEE 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the candidates.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045433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are three momentum-oriented reference strategies for ETH on 1h: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ref-001 — ETH momentum with RSI + SMA crossover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Entry:  rsi_cross_up(14, 30), sma_cross_up(20, 50),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adx_strong_trend(14, 25)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Exit:   rsi_cross_down(14, 70), sma_cross_down(20, 50)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ref-004 — ETH breakout on ADX + MACD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Entry:  adx_strong_trend(14, 25),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macd_bullish_cross(12, 26, 9)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Exit:   macd_bearish_cross(12, 26, 9)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ref-007 — ETH trend-following with ichimoku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Entry:  ichimoku_bullish, sma_cross_up(20, 50)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Exit:   ichimoku_bearish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one. For the workshop: 'Let's try ref-001.' You can always change your mind later — strategies are cheap.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BOT DECIDES IF A STRATEGY IS WORTH PAPERING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metrics. Six thresholds.</a:t>
            </a:r>
            <a:endParaRPr lang="en-US" sz="4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1.5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Risk-adjusted return, downside-only. Higher is better.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1.2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Risk-adjusted return, total volatility. Higher is better.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1.0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vs max drawdown. Higher is better.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0.15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return. 15% is the floor.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≤ 0.70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peak-to-trough dip. Lower is better.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 0.25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trades that were profitable.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5715000"/>
            <a:ext cx="10911535" cy="6400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68680" y="576072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E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met = PASS   ·   4–5 met = MARGINAL   ·   ≤ 3 = FAIL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 ·  MEMORIZE THIS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do with each verdict.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32004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Promote to paper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thresholds met. The strategy is a reasonable hypothesis. Promote to paper, watch it tick, refine later if needed. This is the happy path.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109728" cy="32004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73498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Accept or iterate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73498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 5 of 6. The bot tells you which missed. You can paper it anyway (thresholds are conservative) OR ask for a different reference / different timeframe.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109728" cy="320040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2860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32597" y="265176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NOT paper it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432597" y="324612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met. Market regime has moved against this strategy's logic. Papering a failing strategy to 'see what happens' just wastes cron ticks. Pick another reference.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011680"/>
            <a:ext cx="99971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"INSUFFICIENT_TRADES is not a failure. It's 'no evidence either way — try again with more data.'"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57607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SPECIAL CASE EVERY BEGINNER MISREADS</a:t>
            </a:r>
            <a:endParaRPr lang="en-US" sz="1600" dirty="0"/>
          </a:p>
        </p:txBody>
      </p:sp>
      <p:pic>
        <p:nvPicPr>
          <p:cNvPr id="4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115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 MODE.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it. Watch it tick. Simulated fills. No funds. No on-chain exposure. The last stop before live.</a:t>
            </a:r>
            <a:endParaRPr lang="en-US" sz="2200" dirty="0"/>
          </a:p>
        </p:txBody>
      </p:sp>
      <p:pic>
        <p:nvPicPr>
          <p:cNvPr id="6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SENTENCE, ONE TOOL CALL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Promote it to paper.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045433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Promote it to paper.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update_strategy_status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strategy_id: "..."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"paper"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Promoted to paper. Scheduler registered a cron job on the 1h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timeframe — evaluations will fire at the top of each hour.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cron jobs: 1.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`list_evaluations` any time to see what the strategy saw.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uses the SAME SQLite file as everything else, so cron jobs survive server restarts. Your bot can reboot and the strategy picks up ticking.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BY TIMEFRAME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your strategy ticks.</a:t>
            </a:r>
            <a:endParaRPr lang="en-US" sz="4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EXPRESSION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kern="0" spc="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*/5 *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*/15 *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15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*/30 *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30 minutes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*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every hour  ← workshop 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*/4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4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2A7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* * 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 UTC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WAIT AN HOUR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Force a tick.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045433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Run evaluate_strategy on it so I don't have to wait for the cron.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9E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evaluate_strategy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strategy_id: "..."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Evaluated. Duration: 487 ms. Orders produced: 1.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trade logged: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side:        buy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symbol:      ETH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input:       100 USDC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output:      0.0398 ETH  (at fill_price $2,509.21)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mode:        paper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reason:      rsi_cross_up + sma_cross_up both fired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tick logic the cron would have run, right now. If orders == 0, the signal just isn't firing — that's not a malfunction, that's the strategy watching.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TABLES WORTH KNOWING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Evaluations vs trades.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02336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2A7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list_evaluations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9528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cron tick logs a row — whether or not the strategy fired. Status, duration, how many orders, and a one-line note on what the strategy saw.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trades after 5 ticks? That's not a bug. The signals just haven't been met. Let it run longer.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over 5 seconds? Mangrove is probably under load.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02336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9E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list_trades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53048" y="2743200"/>
            <a:ext cx="49528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fills in paper mode. Same schema as live trades — mode column is 'paper' instead of 'live', and tx_hash is null.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fill. Side, symbol, input, output, status. Lets you verify the strategy's pattern (frequency, size, direction) against the exact surface you'd see in live mode.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  ·  WALLET SETUP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or import.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WALLET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bot: "Create me a new wallet." It calls create_wallet, generates a fresh EVM keypair in-process, Fernet-encrypts the private key, stores it in agent.db, and returns you an address + secret_id.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path for a workshop: nothing to transfer, no existing keys to manage, clean audit trail from minute one.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AN EXISTING WALLET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./scripts/stash-secret.sh in your terminal. Hidden-input prompt accepts your private key, encrypts it, stores it. The bot never sees the plaintext.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already have a funded wallet you want the bot to drive. NEVER paste a key into chat — the hook will refuse it anyway.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  ·  ENCRYPTION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encryption model.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Fernet ciphertext in SQLite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is encrypted before it hits disk. What's in agent.db is ciphertext — useless without the master key. Back up agent.db freely.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KEY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 keychain (preferred)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73498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Keychain / Linux Secret Service / Windows Credential Manager. Platform-managed. If you opt out, it's a chmod-600 file at agent-data/master.key.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3259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Decrypted only to sign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32597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decrypts in-memory, signs the transaction, wipes the plaintext immediately. Never written back. Never exposed to chat or logs.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  ·  BACKUP GATE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backup gate — three steps.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 · REVEAL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./scripts/reveal-secret.sh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terminal only. Prints the key once. Doesn't log it. Doesn't echo to any file. Copy it to a password manager, paper, or hardware wallet.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trading: STILL REFUSED.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 · SAVE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Somewhere durable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73498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1Password. Bitwarden. A printed card in a safe. A hardware wallet. Wherever you already keep the keys you trust.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laptop dies, this is what lets you recover.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 · CONFIRM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3259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./scripts/confirm-backup.sh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32597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backup_confirmed_at in the database. You're asserting 'yes, I saved it, I can recover.'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trading: UNLOCKED for this wallet.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it landed.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Confirm the wallet exists and is backup-confirmed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list my wallets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list_wallets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wallet_id: w-abc123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address: 0x4f3c...8e21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backup_confirmed_at: 2026-04-24 10:42:18Z   ✓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live_enabled: true                           ✓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Fund it (from exchange, another wallet, or bridge)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Send ~$5 USDC to the address above on Base mainnet.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Verify funds landed on-chain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check my portfolio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get_portfolio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USDC: 5.00    ($5.00)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ETH:  0.0008  (~$2.00, for gas)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checkmarks above + funds in get_portfolio = you're clear to go live. Either one missing = stop.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06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115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Going live.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paper strategy to live. Watch one real swap. Verify on-chain. 20 minutes.</a:t>
            </a:r>
            <a:endParaRPr lang="en-US" sz="2200" dirty="0"/>
          </a:p>
        </p:txBody>
      </p:sp>
      <p:pic>
        <p:nvPicPr>
          <p:cNvPr id="6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5943600"/>
            <a:ext cx="502920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  ·  GO / NO-GO REVIEW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gates to pass.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strategy paper-traded cleanly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full cycle of its timeframe. Entries AND exits both fired. Paper trades in list_trades look sensible. If you see nothing but errors, do NOT promote.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wallet is backup-confirmed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73498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6, all three steps. If backup_confirmed_at is NULL, the live-promotion call will refuse with a clear error. That refusal is the gate working.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3259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set a small allocation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32597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allocation: $1–5 USDC. You're not trying to make money yet. You're verifying the mechanics work on real funds. Scale up after you've seen 2–3 clean fills.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  ·  PROMOTION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 → Live — one promotion call.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9728" cy="41148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PAPER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is running. Evaluations firing on the timeframe. Fills are simulated at market price. Zero on-chain activity. Zero funds at risk.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you've been. It's safe. Staying here is fine.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4448" y="2103120"/>
            <a:ext cx="109728" cy="41148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53048" y="21031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3048" y="2560320"/>
            <a:ext cx="495284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bot: "Promote &lt;strategy_id&gt; to live, allocate $5 USDC from &lt;wallet_id&gt;, confirm=true."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requirements: user asked · wallet backup-confirmed · allocation complete · confirm=true explicit. All four or it refuses.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keeps firing. Fills are now real swaps on Base.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  ·  THE ON-CHAIN FLOW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on-chain flow.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Quote + approve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asks mangrovemarkets for a quote. If it's a new token pair, signs an ERC-20 approval so the router can move funds. Waits for approval confirmation.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9178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99178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73498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Prepare + sign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73498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asks for the unsigned swap payload with your slippage cap. Signs locally with the decrypted key (in-memory only). The signed tx exists for one function call.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58277" y="2103120"/>
            <a:ext cx="339333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58277" y="2103120"/>
            <a:ext cx="3393338" cy="109728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2597" y="23774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3259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Broadcast + log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432597" y="352044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tx goes to mangrovemarkets for broadcast. Agent polls for confirmation. On success, writes a row to trades with mode=live and the tx_hash. You can open it on basescan.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live swap.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Promote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Promote strategy s-ab12 to live. Allocate 5 USDC from w-abc123. confirm=true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update_strategy_status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live, allocation: 5 USDC, wallet: w-abc123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Promoted. Next eval at top of hour.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Force a tick (don't wait)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Run evaluate_strategy on s-ab12.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evaluate_strategy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Orders produced: 1 (entry)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execute_swap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side: buy, input: 5 USDC, output: 0.00198 ETH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tx_hash: 0x7a9c...4f01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Confirmed in block 8,224,551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Verify on basescan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 basescan.org/tx/0x7a9c...4f01 in a browser.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three steps return clean, you've made a live trade. Watch it for a full cycle before you scale the allocation up.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07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08  · 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the bot did.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1839"/>
            </a:avLst>
          </a:prstGeom>
          <a:solidFill>
            <a:srgbClr val="1A1A1A"/>
          </a:solidFill>
          <a:ln w="952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82880" cy="182880"/>
          </a:xfrm>
          <a:prstGeom prst="ellipse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182880" cy="182880"/>
          </a:xfrm>
          <a:prstGeom prst="ellipse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965960"/>
            <a:ext cx="182880" cy="182880"/>
          </a:xfrm>
          <a:prstGeom prst="ellipse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045433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Through the bot — most common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Show me evaluations for strategy s-ab12.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list_evaluations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ev-001  ok   0 orders  287ms   (no entry signal)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ev-002  ok   1 order   401ms   rsi_cross_up fired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ev-003  ok   1 order   442ms   sma_cross_down (exit)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Show me live trades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Using tool: list_trades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tr-22  live  buy   5 USDC  → 0.00198 ETH  0x7a9c...4f01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tr-23  live  sell  0.00198 ETH → 5.12 USDC 0xb321...9e08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Directly, if you want to run SQL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2A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sqlite3 agent-data/agent.db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sqlite&gt; SELECT * FROM evaluations WHERE strategy_id='s-ab12';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sqlite&gt; SELECT mode, side, tx_hash FROM trades ORDER BY ts DESC LIMIT 5;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bot's summary = its interpretation. The SQLite = the truth. When they disagree, query directly.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08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TO TAKE HOME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principles for agents that touch real things.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92024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Self-custody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your own keys, wallets, tokens, credentials. If a hosted service is breached, the worst case is you can't use their API — not 'your money is gone.'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28" y="210312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728" y="2103120"/>
            <a:ext cx="109728" cy="1920240"/>
          </a:xfrm>
          <a:prstGeom prst="rect">
            <a:avLst/>
          </a:prstGeom>
          <a:solidFill>
            <a:srgbClr val="74C3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3048" y="22860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53048" y="26517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audit trail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53048" y="32461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evaluation, every tool call, every decision in a database you can query. If the agent claims it did something, the row is there. If it isn't, it didn't happen.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9728" cy="192024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you can't skip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14400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Hooks. Validators. Permission prompts. Structural refusals, not 'please don't.' The key-paste block refuses your message — it doesn't ask you to be careful.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78728" y="4297680"/>
            <a:ext cx="5272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78728" y="4297680"/>
            <a:ext cx="109728" cy="1920240"/>
          </a:xfrm>
          <a:prstGeom prst="rect">
            <a:avLst/>
          </a:prstGeom>
          <a:solidFill>
            <a:srgbClr val="FF47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53048" y="448056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4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048" y="484632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Staged promotion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53048" y="544068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backtest → paper → live. Each stage has entry criteria. Never skip stages for speed. Every incident you've heard about skipped a stage.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chapters-6-8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74C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08  ·  MAKE IT YOURS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yours.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91153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signal: drop a Python file into server/src/signals/, register it, use it in a strategy. The bot wraps Mangrove's signal library — it doesn't restrict you from adding your own.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MCP tool: the MCP server in server/src/mcp/tools.py is just Python. Add a function, decorate it, restart the server, Claude Code picks it up on next session. You can give the bot read access to news feeds, sentiment data, on-chain metrics — anything you can hit from code.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safety net: write a hook. A PreToolUse hook on execute_swap that refuses trades above a dollar threshold. A SessionStart hook that pauses all strategies if the bot's been offline more than an hour. Your rules, your guardrails.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end of the tutorial — and the start of the curriculum. Whatever you build next, tell me about it. The Bots &amp; Bytes series gets shaped by what people actually try.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48495" y="6400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08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015" y="274320"/>
            <a:ext cx="502920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THIS HOME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3186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728" cy="1828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github.com/MangroveTechnologies/app-in-a-box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 you just built. README + tutorials/trading-app/.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2103120"/>
            <a:ext cx="53186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33008" y="2103120"/>
            <a:ext cx="109728" cy="1828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07328" y="23317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MANGROVE DEVELOPER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07328" y="27432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mangrovedeveloper.ai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07328" y="329184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API keys, signal KB, reference strategies.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53186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" y="4206240"/>
            <a:ext cx="109728" cy="1828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443484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DOCS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84632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docs.claude.com/claude-code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4400" y="53949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hooks, MCP, plan mode — official reference.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33008" y="4206240"/>
            <a:ext cx="531860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33008" y="4206240"/>
            <a:ext cx="109728" cy="1828800"/>
          </a:xfrm>
          <a:prstGeom prst="rect">
            <a:avLst/>
          </a:prstGeom>
          <a:solidFill>
            <a:srgbClr val="42A7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07328" y="443484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42A7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FEEDBACK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07328" y="484632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tim.darrah@mangrove.ai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07328" y="53949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what worked, what didn't, what's missing.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legant-magical-meitner/mnt/outputs/deck-build/mangrove-horiz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9260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40080" y="4937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war stories — right now.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Darrah  ·  tim.darrah@mangrove.ai  ·  mangrovedeveloper.ai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 &amp; BYTES  ·  APRIL 24, 2026  ·  NASHVILLE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11968</Words>
  <Application>Microsoft Macintosh PowerPoint</Application>
  <PresentationFormat>Widescreen</PresentationFormat>
  <Paragraphs>1514</Paragraphs>
  <Slides>104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Mangrove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Bots &amp; Bytes — Build Your Own Trading Bot</dc:title>
  <dc:subject>PptxGenJS Presentation</dc:subject>
  <dc:creator>Tim Darrah / Mangrove</dc:creator>
  <cp:lastModifiedBy>Timothy Darrah</cp:lastModifiedBy>
  <cp:revision>3</cp:revision>
  <dcterms:created xsi:type="dcterms:W3CDTF">2026-04-24T05:54:03Z</dcterms:created>
  <dcterms:modified xsi:type="dcterms:W3CDTF">2026-04-24T17:58:56Z</dcterms:modified>
</cp:coreProperties>
</file>